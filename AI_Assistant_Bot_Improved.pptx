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7550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naja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712" y="365760"/>
            <a:ext cx="841776" cy="777240"/>
          </a:xfrm>
          <a:prstGeom prst="rect">
            <a:avLst/>
          </a:prstGeom>
        </p:spPr>
      </p:pic>
      <p:pic>
        <p:nvPicPr>
          <p:cNvPr id="3" name="Image 1" descr="img/logo_und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7660" y="365760"/>
            <a:ext cx="777240" cy="777240"/>
          </a:xfrm>
          <a:prstGeom prst="rect">
            <a:avLst/>
          </a:prstGeom>
        </p:spPr>
      </p:pic>
      <p:pic>
        <p:nvPicPr>
          <p:cNvPr id="4" name="Image 2" descr="img/logo_wa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6673" y="365760"/>
            <a:ext cx="382575" cy="7772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Bot</a:t>
            </a:r>
            <a:endParaRPr lang="en-US" sz="4600" dirty="0"/>
          </a:p>
        </p:txBody>
      </p:sp>
      <p:sp>
        <p:nvSpPr>
          <p:cNvPr id="6" name="Text 1"/>
          <p:cNvSpPr/>
          <p:nvPr/>
        </p:nvSpPr>
        <p:spPr>
          <a:xfrm>
            <a:off x="457200" y="2194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sz="20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بوت تيليجرام بواجهتين: واجهة العميل وواجهة المالك</a:t>
            </a:r>
            <a:endParaRPr lang="en-US" sz="2000" dirty="0"/>
          </a:p>
        </p:txBody>
      </p:sp>
      <p:sp>
        <p:nvSpPr>
          <p:cNvPr id="7" name="Text 2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RAG‏ + تسجيل العملاء المحتملين + إدارة المعرفة — n8n · Gemini · Qdrant · Cohere‏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الطالب: محمد خضير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457200" y="3639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المستفيد: صاحب العمل (محمد) والعملاء المحتملون الذين يسألون عن خدماته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تحت إشراف: م. مهند هندي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جامعة النجاح الوطنية · تدريب الذكاء الاصطناعي والأتمتة · 11‏ أكتوبر 2026‏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56032"/>
            <a:ext cx="64008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75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 والحل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4846320"/>
            <a:ext cx="8412480" cy="9144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Bot  ·  جامعة النجاح الوطنية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4873752"/>
            <a:ext cx="365760" cy="18288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737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114800" cy="2194560"/>
          </a:xfrm>
          <a:prstGeom prst="roundRect">
            <a:avLst>
              <a:gd name="adj" fmla="val 3333"/>
            </a:avLst>
          </a:prstGeom>
          <a:solidFill>
            <a:srgbClr val="151F36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الأتمتة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900"/>
              </a:spcAft>
              <a:buNone/>
            </a:pPr>
            <a:r>
              <a:rPr lang="ar-SA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العميل المحتمل يسأل نفس الأسئلة: من </a:t>
            </a:r>
            <a:r>
              <a:rPr lang="ar-SA" sz="130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هو صاحب؟ </a:t>
            </a:r>
            <a:r>
              <a:rPr lang="ar-SA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وما خدماته؟</a:t>
            </a:r>
            <a:endParaRPr lang="en-US" sz="1300" dirty="0"/>
          </a:p>
          <a:p>
            <a:pPr marL="0" indent="0" algn="r" rtl="1">
              <a:spcAft>
                <a:spcPts val="900"/>
              </a:spcAft>
              <a:buNone/>
            </a:pPr>
            <a:r>
              <a:rPr lang="ar-SA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صاحب العمل يردّ يدوياً وبشكل غير فوري</a:t>
            </a:r>
            <a:endParaRPr lang="en-US" sz="1300" dirty="0"/>
          </a:p>
          <a:p>
            <a:pPr marL="0" indent="0" algn="r" rtl="1">
              <a:spcAft>
                <a:spcPts val="900"/>
              </a:spcAft>
              <a:buNone/>
            </a:pPr>
            <a:r>
              <a:rPr lang="ar-SA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الطلبات تُكتب يدوياً فتضيع أو تتأخر</a:t>
            </a:r>
            <a:endParaRPr lang="en-US" sz="1300" dirty="0"/>
          </a:p>
          <a:p>
            <a:pPr marL="0" indent="0" algn="r" rtl="1">
              <a:spcAft>
                <a:spcPts val="900"/>
              </a:spcAft>
              <a:buNone/>
            </a:pPr>
            <a:r>
              <a:rPr lang="ar-SA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تحديث المعلومات يتطلب أدوات تقنية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914400"/>
            <a:ext cx="4114800" cy="2194560"/>
          </a:xfrm>
          <a:prstGeom prst="roundRect">
            <a:avLst>
              <a:gd name="adj" fmla="val 3333"/>
            </a:avLst>
          </a:prstGeom>
          <a:solidFill>
            <a:srgbClr val="151F36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الحل: بوت بواجهتين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137160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900"/>
              </a:spcAft>
              <a:buNone/>
            </a:pPr>
            <a:r>
              <a:rPr lang="ar-SA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واجهة العميل: قائمة أزرار، وإجابات من السيرة (RAG‏)، وتسجيل الطلب</a:t>
            </a:r>
            <a:endParaRPr lang="en-US" sz="1300" dirty="0"/>
          </a:p>
          <a:p>
            <a:pPr marL="0" indent="0" algn="r" rtl="1">
              <a:spcAft>
                <a:spcPts val="900"/>
              </a:spcAft>
              <a:buNone/>
            </a:pPr>
            <a:r>
              <a:rPr lang="ar-SA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واجهة المالك: لوحة تحكم لإدارة الملفات ومتابعة الطلبات</a:t>
            </a:r>
            <a:endParaRPr lang="en-US" sz="1300" dirty="0"/>
          </a:p>
          <a:p>
            <a:pPr marL="0" indent="0" algn="r" rtl="1">
              <a:spcAft>
                <a:spcPts val="900"/>
              </a:spcAft>
              <a:buNone/>
            </a:pPr>
            <a:r>
              <a:rPr lang="ar-SA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رد فوري 24/7‏ دون اختلاق معلومات</a:t>
            </a:r>
            <a:endParaRPr lang="en-US" sz="1300" dirty="0"/>
          </a:p>
          <a:p>
            <a:pPr marL="0" indent="0" algn="r" rtl="1">
              <a:spcAft>
                <a:spcPts val="900"/>
              </a:spcAft>
              <a:buNone/>
            </a:pPr>
            <a:r>
              <a:rPr lang="ar-SA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تنبيه المالك بالبريد وتيليجرام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78040" y="342900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151F36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35661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223760" y="41148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واجهتان: عميل ومالك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29250" y="342900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151F36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29250" y="35661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474970" y="41148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تدفقات (Workflows‏)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80460" y="342900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151F36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80460" y="35661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726180" y="41148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عقدة في n8n‏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31670" y="342900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151F36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31670" y="35661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977390" y="41148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مسارات في الـ Router‏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" y="342900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151F36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" y="35661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228600" y="41148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رد فوري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56032"/>
            <a:ext cx="64008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75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البنية: ثلاثة تدفقات مترابطة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4846320"/>
            <a:ext cx="8412480" cy="9144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Bot  ·  جامعة النجاح الوطنية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4873752"/>
            <a:ext cx="365760" cy="18288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737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0" y="91440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1E3A5F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978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العميل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sz="11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العميل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91440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1E3A5F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978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المالك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sz="11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المالك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91440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151F36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9784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Bot API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رسائل · أزرار · ملفات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1051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89320" y="1874520"/>
            <a:ext cx="2926080" cy="2148840"/>
          </a:xfrm>
          <a:prstGeom prst="roundRect">
            <a:avLst>
              <a:gd name="adj" fmla="val 3404"/>
            </a:avLst>
          </a:prstGeom>
          <a:solidFill>
            <a:srgbClr val="151F36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51392" y="1874520"/>
            <a:ext cx="64008" cy="2148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9476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البوت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26480" y="2240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36‏ عقدة · AI Assistant Bot‏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256032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400"/>
              </a:spcAft>
              <a:buNone/>
            </a:pPr>
            <a:r>
              <a:rPr lang="ar-SA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Normalize‏: يميّز المالك من العميل</a:t>
            </a:r>
            <a:endParaRPr lang="en-US" sz="1050" dirty="0"/>
          </a:p>
          <a:p>
            <a:pPr marL="0" indent="0" algn="r" rtl="1">
              <a:spcAft>
                <a:spcPts val="400"/>
              </a:spcAft>
              <a:buNone/>
            </a:pPr>
            <a:r>
              <a:rPr lang="ar-SA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Router‏ بتسعة مخارج</a:t>
            </a:r>
            <a:endParaRPr lang="en-US" sz="1050" dirty="0"/>
          </a:p>
          <a:p>
            <a:pPr marL="0" indent="0" algn="r" rtl="1">
              <a:spcAft>
                <a:spcPts val="400"/>
              </a:spcAft>
              <a:buNone/>
            </a:pPr>
            <a:r>
              <a:rPr lang="ar-SA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تسجيل الطلبات + AI Agent‏</a:t>
            </a:r>
            <a:endParaRPr lang="en-US" sz="1050" dirty="0"/>
          </a:p>
          <a:p>
            <a:pPr marL="0" indent="0" algn="r" rtl="1">
              <a:spcAft>
                <a:spcPts val="400"/>
              </a:spcAft>
              <a:buNone/>
            </a:pPr>
            <a:r>
              <a:rPr lang="ar-SA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Error Trigger‏: تنبيه الأخطاء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08960" y="1874520"/>
            <a:ext cx="2926080" cy="2148840"/>
          </a:xfrm>
          <a:prstGeom prst="roundRect">
            <a:avLst>
              <a:gd name="adj" fmla="val 3404"/>
            </a:avLst>
          </a:prstGeom>
          <a:solidFill>
            <a:srgbClr val="151F36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71032" y="1874520"/>
            <a:ext cx="64008" cy="2148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19476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Manager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46120" y="2240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29‏ عقدة · لوحة إدارة المالك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46120" y="256032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400"/>
              </a:spcAft>
              <a:buNone/>
            </a:pPr>
            <a:r>
              <a:rPr lang="ar-SA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عرض الملفات وأزرار تعديل/حذف</a:t>
            </a:r>
            <a:endParaRPr lang="en-US" sz="1050" dirty="0"/>
          </a:p>
          <a:p>
            <a:pPr marL="0" indent="0" algn="r" rtl="1">
              <a:spcAft>
                <a:spcPts val="400"/>
              </a:spcAft>
              <a:buNone/>
            </a:pPr>
            <a:r>
              <a:rPr lang="ar-SA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رفع الملفات من تيليجرام إلى Drive‏</a:t>
            </a:r>
            <a:endParaRPr lang="en-US" sz="1050" dirty="0"/>
          </a:p>
          <a:p>
            <a:pPr marL="0" indent="0" algn="r" rtl="1">
              <a:spcAft>
                <a:spcPts val="400"/>
              </a:spcAft>
              <a:buNone/>
            </a:pPr>
            <a:r>
              <a:rPr lang="ar-SA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حذف المتجهات والملف والسجل</a:t>
            </a:r>
            <a:endParaRPr lang="en-US" sz="1050" dirty="0"/>
          </a:p>
          <a:p>
            <a:pPr marL="0" indent="0" algn="r" rtl="1">
              <a:spcAft>
                <a:spcPts val="400"/>
              </a:spcAft>
              <a:buNone/>
            </a:pPr>
            <a:r>
              <a:rPr lang="ar-SA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التحقق من نجاح الفهرسة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28600" y="1874520"/>
            <a:ext cx="2926080" cy="2148840"/>
          </a:xfrm>
          <a:prstGeom prst="roundRect">
            <a:avLst>
              <a:gd name="adj" fmla="val 3404"/>
            </a:avLst>
          </a:prstGeom>
          <a:solidFill>
            <a:srgbClr val="151F36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90672" y="1874520"/>
            <a:ext cx="64008" cy="2148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19476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Qdrant Database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5760" y="2240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28‏ عقدة · إدخال المعرفة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256032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400"/>
              </a:spcAft>
              <a:buNone/>
            </a:pPr>
            <a:r>
              <a:rPr lang="ar-SA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اكتشاف الملفات الجديدة/المعدّلة</a:t>
            </a:r>
            <a:endParaRPr lang="en-US" sz="1050" dirty="0"/>
          </a:p>
          <a:p>
            <a:pPr marL="0" indent="0" algn="r" rtl="1">
              <a:spcAft>
                <a:spcPts val="400"/>
              </a:spcAft>
              <a:buNone/>
            </a:pPr>
            <a:r>
              <a:rPr lang="ar-SA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استخراج النص: PDF · DOCX · TXT · MD‏</a:t>
            </a:r>
            <a:endParaRPr lang="en-US" sz="1050" dirty="0"/>
          </a:p>
          <a:p>
            <a:pPr marL="0" indent="0" algn="r" rtl="1">
              <a:spcAft>
                <a:spcPts val="400"/>
              </a:spcAft>
              <a:buNone/>
            </a:pPr>
            <a:r>
              <a:rPr lang="ar-SA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تقطيع + Embeddings‏ (Gemini‏)</a:t>
            </a:r>
            <a:endParaRPr lang="en-US" sz="1050" dirty="0"/>
          </a:p>
          <a:p>
            <a:pPr marL="0" indent="0" algn="r" rtl="1">
              <a:spcAft>
                <a:spcPts val="400"/>
              </a:spcAft>
              <a:buNone/>
            </a:pPr>
            <a:r>
              <a:rPr lang="ar-SA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تخزين في Qdrant‏ وتسجيل الشيت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742432" y="2743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862072" y="2743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108960" y="40507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يستدعيه المالك عبر Knowledge Manager‏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28600" y="40507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يستدعيه Manager‏ بعد كل رفع (Run ingestion‏)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479792" y="4434840"/>
            <a:ext cx="1298448" cy="347472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79792" y="449884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Drive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89904" y="4434840"/>
            <a:ext cx="1298448" cy="347472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89904" y="449884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Sheets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0016" y="4434840"/>
            <a:ext cx="1298448" cy="347472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0016" y="449884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310128" y="4434840"/>
            <a:ext cx="1298448" cy="347472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10128" y="449884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920240" y="4434840"/>
            <a:ext cx="1298448" cy="347472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20240" y="449884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30352" y="4434840"/>
            <a:ext cx="1298448" cy="347472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449884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56032"/>
            <a:ext cx="64008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75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العميل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4846320"/>
            <a:ext cx="8412480" cy="9144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Bot  ·  جامعة النجاح الوطنية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4873752"/>
            <a:ext cx="365760" cy="18288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737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2064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رحلة تسجيل الطلب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01000" y="128016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12801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1‏. الخدمة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18120" y="132588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040880" y="128016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2801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2‏. الاسم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0" y="132588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128016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2801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3‏. الهاتف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97880" y="132588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20640" y="128016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2801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4‏. تأكيد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2064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يرى العميل؟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20640" y="22402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600"/>
              </a:spcAft>
              <a:buNone/>
            </a:pPr>
            <a:r>
              <a:rPr lang="ar-SA" sz="11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قائمة: عدد‏ الخدمات + «من هو محمد؟» + «التواصل»</a:t>
            </a:r>
            <a:endParaRPr lang="en-US" sz="1150" dirty="0"/>
          </a:p>
          <a:p>
            <a:pPr marL="0" indent="0" algn="r" rtl="1">
              <a:spcAft>
                <a:spcPts val="600"/>
              </a:spcAft>
              <a:buNone/>
            </a:pPr>
            <a:r>
              <a:rPr lang="ar-SA" sz="11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سؤال حر في أي وقت ← AI Agent‏ يجيب من السيرة</a:t>
            </a:r>
            <a:endParaRPr lang="en-US" sz="1150" dirty="0"/>
          </a:p>
          <a:p>
            <a:pPr marL="0" indent="0" algn="r" rtl="1">
              <a:spcAft>
                <a:spcPts val="600"/>
              </a:spcAft>
              <a:buNone/>
            </a:pPr>
            <a:r>
              <a:rPr lang="ar-SA" sz="11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تحقق من الاسم والهاتف وإعادة السؤال عند الخطأ</a:t>
            </a:r>
            <a:endParaRPr lang="en-US" sz="1150" dirty="0"/>
          </a:p>
          <a:p>
            <a:pPr marL="0" indent="0" algn="r" rtl="1">
              <a:spcAft>
                <a:spcPts val="600"/>
              </a:spcAft>
              <a:buNone/>
            </a:pPr>
            <a:r>
              <a:rPr lang="ar-SA" sz="11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الطلب يُحفظ في Sheets‏ ويصل المالك بريد وإشعار</a:t>
            </a:r>
            <a:endParaRPr lang="en-US" sz="1150" dirty="0"/>
          </a:p>
          <a:p>
            <a:pPr marL="0" indent="0" algn="r" rtl="1">
              <a:spcAft>
                <a:spcPts val="600"/>
              </a:spcAft>
              <a:buNone/>
            </a:pPr>
            <a:r>
              <a:rPr lang="ar-SA" sz="11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لا يرى أي أمر إداري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120640" y="406908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1E3A5F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4160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05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الحالة تُستنتج من الرد (Reply‏) على رسالة البوت، فلا حاجة لقاعدة بيانات للحالة</a:t>
            </a:r>
            <a:endParaRPr lang="en-US" sz="1050" dirty="0"/>
          </a:p>
        </p:txBody>
      </p:sp>
      <p:pic>
        <p:nvPicPr>
          <p:cNvPr id="25" name="Image 0" descr="img/lead_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2194560" cy="3421162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320040" y="914400"/>
            <a:ext cx="2194560" cy="3421162"/>
          </a:xfrm>
          <a:prstGeom prst="rect">
            <a:avLst/>
          </a:prstGeom>
          <a:ln w="9525">
            <a:solidFill>
              <a:srgbClr val="2A3A5C"/>
            </a:solidFill>
            <a:prstDash val="solid"/>
          </a:ln>
        </p:spPr>
      </p:sp>
      <p:pic>
        <p:nvPicPr>
          <p:cNvPr id="27" name="Image 1" descr="img/cust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914400"/>
            <a:ext cx="2331720" cy="1616659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2651760" y="914400"/>
            <a:ext cx="2331720" cy="1616659"/>
          </a:xfrm>
          <a:prstGeom prst="rect">
            <a:avLst/>
          </a:prstGeom>
          <a:ln w="9525">
            <a:solidFill>
              <a:srgbClr val="2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651760" y="26974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العميل</a:t>
            </a:r>
            <a:endParaRPr lang="en-US" sz="900" dirty="0"/>
          </a:p>
        </p:txBody>
      </p:sp>
      <p:pic>
        <p:nvPicPr>
          <p:cNvPr id="30" name="Image 2" descr="img/confir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3063240"/>
            <a:ext cx="2331720" cy="984168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2651760" y="3063240"/>
            <a:ext cx="2331720" cy="984168"/>
          </a:xfrm>
          <a:prstGeom prst="rect">
            <a:avLst/>
          </a:prstGeom>
          <a:ln w="9525">
            <a:solidFill>
              <a:srgbClr val="2A3A5C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2651760" y="41148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تأكيد الطلب للعميل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56032"/>
            <a:ext cx="64008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75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المالك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4846320"/>
            <a:ext cx="8412480" cy="9144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Bot  ·  جامعة النجاح الوطنية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4873752"/>
            <a:ext cx="365760" cy="18288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737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94960" y="914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تحكم داخل تيليجرام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32320" y="128016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151F36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1298448"/>
            <a:ext cx="164592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389888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05472" y="14356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11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آخر الطلبات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205472" y="173736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آخر 5‏ طلبات مع الإجمالي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94960" y="128016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151F36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298448"/>
            <a:ext cx="164592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389888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68112" y="14356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11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الملفات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68112" y="173736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تعديل وحذف بتأكيد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32320" y="22860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151F36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0" y="2304288"/>
            <a:ext cx="16459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2395728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05472" y="24414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11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إضافة ملفات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205472" y="274320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· DOCX · DOC · TXT · MD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94960" y="22860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151F36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94960" y="2304288"/>
            <a:ext cx="164592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2395728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68112" y="24414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11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معاينة الزبائن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68112" y="274320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القائمة كما يراها العميل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94960" y="33375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400"/>
              </a:spcAft>
              <a:buNone/>
            </a:pPr>
            <a:r>
              <a:rPr lang="ar-SA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يتعرّف البوت على المالك من معرّف حسابه عند ‎/</a:t>
            </a: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</a:t>
            </a:r>
            <a:r>
              <a:rPr lang="ar-SA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</a:t>
            </a:r>
            <a:endParaRPr lang="en-US" sz="1050" dirty="0"/>
          </a:p>
          <a:p>
            <a:pPr marL="0" indent="0" algn="r" rtl="1">
              <a:spcAft>
                <a:spcPts val="400"/>
              </a:spcAft>
              <a:buNone/>
            </a:pPr>
            <a:r>
              <a:rPr lang="ar-SA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الرفع حتى 20MB‏ وفهرسة فورية في Qdrant‏</a:t>
            </a:r>
            <a:endParaRPr lang="en-US" sz="1050" dirty="0"/>
          </a:p>
          <a:p>
            <a:pPr marL="0" indent="0" algn="r" rtl="1">
              <a:spcAft>
                <a:spcPts val="400"/>
              </a:spcAft>
              <a:buNone/>
            </a:pPr>
            <a:r>
              <a:rPr lang="ar-SA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🚨 تنبيه تيليجرام عند فشل أي workflow‏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94960" y="425196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3B2A0E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4297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هذه الأوامر والأزرار للمالك فقط؛ العميل لا يصل إليها</a:t>
            </a:r>
            <a:endParaRPr lang="en-US" sz="1050" dirty="0"/>
          </a:p>
        </p:txBody>
      </p:sp>
      <p:pic>
        <p:nvPicPr>
          <p:cNvPr id="33" name="Image 0" descr="img/owner_st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083" y="914400"/>
            <a:ext cx="2717074" cy="178308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2459083" y="914400"/>
            <a:ext cx="2717074" cy="1783080"/>
          </a:xfrm>
          <a:prstGeom prst="rect">
            <a:avLst/>
          </a:prstGeom>
          <a:ln w="9525">
            <a:solidFill>
              <a:srgbClr val="2A3A5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423160" y="271576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التحكم</a:t>
            </a:r>
            <a:endParaRPr lang="en-US" sz="900" dirty="0"/>
          </a:p>
        </p:txBody>
      </p:sp>
      <p:pic>
        <p:nvPicPr>
          <p:cNvPr id="36" name="Image 1" descr="img/lea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33" y="914400"/>
            <a:ext cx="1596853" cy="3520440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481733" y="914400"/>
            <a:ext cx="1596853" cy="3520440"/>
          </a:xfrm>
          <a:prstGeom prst="rect">
            <a:avLst/>
          </a:prstGeom>
          <a:ln w="9525">
            <a:solidFill>
              <a:srgbClr val="2A3A5C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274320" y="44805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آخر الطلبات</a:t>
            </a:r>
            <a:endParaRPr lang="en-US" sz="900" dirty="0"/>
          </a:p>
        </p:txBody>
      </p:sp>
      <p:pic>
        <p:nvPicPr>
          <p:cNvPr id="39" name="Image 2" descr="img/add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2971800"/>
            <a:ext cx="1600200" cy="1331035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2423160" y="2971800"/>
            <a:ext cx="1600200" cy="1331035"/>
          </a:xfrm>
          <a:prstGeom prst="rect">
            <a:avLst/>
          </a:prstGeom>
          <a:ln w="9525">
            <a:solidFill>
              <a:srgbClr val="2A3A5C"/>
            </a:solidFill>
            <a:prstDash val="solid"/>
          </a:ln>
        </p:spPr>
      </p:sp>
      <p:pic>
        <p:nvPicPr>
          <p:cNvPr id="41" name="Image 3" descr="img/fil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2971800"/>
            <a:ext cx="1097280" cy="1207008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4114800" y="2971800"/>
            <a:ext cx="1097280" cy="1207008"/>
          </a:xfrm>
          <a:prstGeom prst="rect">
            <a:avLst/>
          </a:prstGeom>
          <a:ln w="9525">
            <a:solidFill>
              <a:srgbClr val="2A3A5C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2423160" y="459028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 وفهرسة ملف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4114800" y="45902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الملفات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56032"/>
            <a:ext cx="64008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75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الـ Router‏ وعقل الذكاء الاصطناعي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4846320"/>
            <a:ext cx="8412480" cy="9144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Bot  ·  جامعة النجاح الوطنية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4873752"/>
            <a:ext cx="365760" cy="18288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737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577840" y="914400"/>
            <a:ext cx="3200400" cy="3840480"/>
          </a:xfrm>
          <a:prstGeom prst="roundRect">
            <a:avLst>
              <a:gd name="adj" fmla="val 2286"/>
            </a:avLst>
          </a:prstGeom>
          <a:solidFill>
            <a:srgbClr val="151F36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987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الـ Router‏: 9‏ مسارات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13716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/ lead_name / lead_phone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60720" y="159105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الطلب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0" y="18470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· contact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60720" y="20665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القائمة والتواصل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0" y="232257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60720" y="25420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السؤال الحر ← AI Agent‏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279806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unsupported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760720" y="30175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 وملفات العميل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32735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· leads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760720" y="34930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للمالك فقط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38404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ورسائل المجموعات تُتجاهل (ignore‏)</a:t>
            </a:r>
            <a:endParaRPr lang="en-US" sz="1000" dirty="0"/>
          </a:p>
        </p:txBody>
      </p:sp>
      <p:pic>
        <p:nvPicPr>
          <p:cNvPr id="22" name="Image 0" descr="img/rou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914400"/>
            <a:ext cx="1280160" cy="2542554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160520" y="914400"/>
            <a:ext cx="1280160" cy="2542554"/>
          </a:xfrm>
          <a:prstGeom prst="rect">
            <a:avLst/>
          </a:prstGeom>
          <a:ln w="9525">
            <a:solidFill>
              <a:srgbClr val="2A3A5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65760" y="91440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151F36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9875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(RAG)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48640" y="132588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300"/>
              </a:spcAft>
              <a:buNone/>
            </a:pPr>
            <a:r>
              <a:rPr lang="ar-SA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Gemini 3.5 Flash-Lite‏ — حرارة 0.3‏</a:t>
            </a:r>
            <a:endParaRPr lang="en-US" sz="1050" dirty="0"/>
          </a:p>
          <a:p>
            <a:pPr marL="0" indent="0" algn="r" rtl="1">
              <a:spcAft>
                <a:spcPts val="300"/>
              </a:spcAft>
              <a:buNone/>
            </a:pPr>
            <a:r>
              <a:rPr lang="ar-SA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ذاكرة: آخر 10‏ رسائل لكل محادثة</a:t>
            </a:r>
            <a:endParaRPr lang="en-US" sz="1050" dirty="0"/>
          </a:p>
          <a:p>
            <a:pPr marL="0" indent="0" algn="r" rtl="1">
              <a:spcAft>
                <a:spcPts val="300"/>
              </a:spcAft>
              <a:buNone/>
            </a:pPr>
            <a:r>
              <a:rPr lang="ar-SA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بحث Qdrant‏: أفضل 15‏ مقطعاً</a:t>
            </a:r>
            <a:endParaRPr lang="en-US" sz="1050" dirty="0"/>
          </a:p>
          <a:p>
            <a:pPr marL="0" indent="0" algn="r" rtl="1">
              <a:spcAft>
                <a:spcPts val="300"/>
              </a:spcAft>
              <a:buNone/>
            </a:pPr>
            <a:r>
              <a:rPr lang="ar-SA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Cohere Rerank‏: أفضل 5‏ مقاطع</a:t>
            </a:r>
            <a:endParaRPr lang="en-US" sz="1050" dirty="0"/>
          </a:p>
          <a:p>
            <a:pPr marL="0" indent="0" algn="r" rtl="1">
              <a:spcAft>
                <a:spcPts val="300"/>
              </a:spcAft>
              <a:buNone/>
            </a:pPr>
            <a:r>
              <a:rPr lang="ar-SA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خطأ ← رسالة اعتذار بدل الصمت</a:t>
            </a:r>
            <a:endParaRPr lang="en-US" sz="1050" dirty="0"/>
          </a:p>
        </p:txBody>
      </p:sp>
      <p:pic>
        <p:nvPicPr>
          <p:cNvPr id="27" name="Image 1" descr="img/r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10" y="2971800"/>
            <a:ext cx="3268980" cy="178308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537210" y="2971800"/>
            <a:ext cx="3268980" cy="1783080"/>
          </a:xfrm>
          <a:prstGeom prst="rect">
            <a:avLst/>
          </a:prstGeom>
          <a:ln w="9525">
            <a:solidFill>
              <a:srgbClr val="2A3A5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56032"/>
            <a:ext cx="64008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75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الاختبارات والقيود والخلاصة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4846320"/>
            <a:ext cx="8412480" cy="9144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Bot  ·  جامعة النجاح الوطنية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4873752"/>
            <a:ext cx="365760" cy="18288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737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0" y="91440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151F36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005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اختُبر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63640" y="1371600"/>
            <a:ext cx="2377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800"/>
              </a:spcAft>
              <a:buNone/>
            </a:pPr>
            <a:r>
              <a:rPr lang="ar-SA" sz="11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12‏ سيناريو اختبار</a:t>
            </a:r>
            <a:endParaRPr lang="en-US" sz="1150" dirty="0"/>
          </a:p>
          <a:p>
            <a:pPr marL="0" indent="0" algn="r" rtl="1">
              <a:spcAft>
                <a:spcPts val="800"/>
              </a:spcAft>
              <a:buNone/>
            </a:pPr>
            <a:r>
              <a:rPr lang="ar-SA" sz="11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8‏ موثّقة بلقطات من تيليجرام</a:t>
            </a:r>
            <a:endParaRPr lang="en-US" sz="1150" dirty="0"/>
          </a:p>
          <a:p>
            <a:pPr marL="0" indent="0" algn="r" rtl="1">
              <a:spcAft>
                <a:spcPts val="800"/>
              </a:spcAft>
              <a:buNone/>
            </a:pPr>
            <a:r>
              <a:rPr lang="ar-SA" sz="11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واجهة العميل: قائمة، تواصل، «من هو محمد؟»، طلب كامل</a:t>
            </a:r>
            <a:endParaRPr lang="en-US" sz="1150" dirty="0"/>
          </a:p>
          <a:p>
            <a:pPr marL="0" indent="0" algn="r" rtl="1">
              <a:spcAft>
                <a:spcPts val="800"/>
              </a:spcAft>
              <a:buNone/>
            </a:pPr>
            <a:r>
              <a:rPr lang="ar-SA" sz="11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واجهة المالك: لوحة، طلبات، رفع ملف، إدارة الملفات</a:t>
            </a:r>
            <a:endParaRPr lang="en-US" sz="1150" dirty="0"/>
          </a:p>
          <a:p>
            <a:pPr marL="0" indent="0" algn="r" rtl="1">
              <a:spcAft>
                <a:spcPts val="800"/>
              </a:spcAft>
              <a:buNone/>
            </a:pPr>
            <a:r>
              <a:rPr lang="ar-SA" sz="11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التحقق من المدخلات وصلاحيات المالك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91440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151F36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005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القيود الحالية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371600"/>
            <a:ext cx="2377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800"/>
              </a:spcAft>
              <a:buNone/>
            </a:pPr>
            <a:r>
              <a:rPr lang="ar-SA" sz="11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الذاكرة داخل n8n‏ (Simple Memory‏)</a:t>
            </a:r>
            <a:endParaRPr lang="en-US" sz="1150" dirty="0"/>
          </a:p>
          <a:p>
            <a:pPr marL="0" indent="0" algn="r" rtl="1">
              <a:spcAft>
                <a:spcPts val="800"/>
              </a:spcAft>
              <a:buNone/>
            </a:pPr>
            <a:r>
              <a:rPr lang="ar-SA" sz="11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الإدخال يعمل عند الطلب فقط (بلا جدولة)</a:t>
            </a:r>
            <a:endParaRPr lang="en-US" sz="1150" dirty="0"/>
          </a:p>
          <a:p>
            <a:pPr marL="0" indent="0" algn="r" rtl="1">
              <a:spcAft>
                <a:spcPts val="800"/>
              </a:spcAft>
              <a:buNone/>
            </a:pPr>
            <a:r>
              <a:rPr lang="ar-SA" sz="11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تحقق عام من الهاتف (8–15‏ رقماً)</a:t>
            </a:r>
            <a:endParaRPr lang="en-US" sz="1150" dirty="0"/>
          </a:p>
          <a:p>
            <a:pPr marL="0" indent="0" algn="r" rtl="1">
              <a:spcAft>
                <a:spcPts val="800"/>
              </a:spcAft>
              <a:buNone/>
            </a:pPr>
            <a:r>
              <a:rPr lang="ar-SA" sz="11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لا منع لتكرار الطلبات</a:t>
            </a:r>
            <a:endParaRPr lang="en-US" sz="1150" dirty="0"/>
          </a:p>
          <a:p>
            <a:pPr marL="0" indent="0" algn="r" rtl="1">
              <a:spcAft>
                <a:spcPts val="800"/>
              </a:spcAft>
              <a:buNone/>
            </a:pPr>
            <a:r>
              <a:rPr lang="ar-SA" sz="11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بيانات المالك داخل الـ workflow‏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91440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151F36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005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خارطة الطريق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1371600"/>
            <a:ext cx="2377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800"/>
              </a:spcAft>
              <a:buNone/>
            </a:pPr>
            <a:r>
              <a:rPr lang="ar-SA" sz="11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Schedule Trigger‏ لفهرسة ملفات Drive‏ تلقائياً</a:t>
            </a:r>
            <a:endParaRPr lang="en-US" sz="1150" dirty="0"/>
          </a:p>
          <a:p>
            <a:pPr marL="0" indent="0" algn="r" rtl="1">
              <a:spcAft>
                <a:spcPts val="800"/>
              </a:spcAft>
              <a:buNone/>
            </a:pPr>
            <a:r>
              <a:rPr lang="ar-SA" sz="11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ذاكرة دائمة (Postgres‏ أو Redis‏)</a:t>
            </a:r>
            <a:endParaRPr lang="en-US" sz="1150" dirty="0"/>
          </a:p>
          <a:p>
            <a:pPr marL="0" indent="0" algn="r" rtl="1">
              <a:spcAft>
                <a:spcPts val="800"/>
              </a:spcAft>
              <a:buNone/>
            </a:pPr>
            <a:r>
              <a:rPr lang="ar-SA" sz="11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منع تكرار الطلبات وتحديد المعدل</a:t>
            </a:r>
            <a:endParaRPr lang="en-US" sz="1150" dirty="0"/>
          </a:p>
          <a:p>
            <a:pPr marL="0" indent="0" algn="r" rtl="1">
              <a:spcAft>
                <a:spcPts val="800"/>
              </a:spcAft>
              <a:buNone/>
            </a:pPr>
            <a:r>
              <a:rPr lang="ar-SA" sz="11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تقرير أسبوعي بالطلبات</a:t>
            </a:r>
            <a:endParaRPr lang="en-US" sz="1150" dirty="0"/>
          </a:p>
          <a:p>
            <a:pPr marL="0" indent="0" algn="r" rtl="1">
              <a:spcAft>
                <a:spcPts val="800"/>
              </a:spcAft>
              <a:buNone/>
            </a:pPr>
            <a:r>
              <a:rPr lang="ar-SA" sz="11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لغات إضافية وحجز مواعيد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88620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319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الخلاصة: بوت عربي بواجهتين يردّ فوراً من مصدر معرفة موثوق ويسجّل الطلبات تلقائياً، ويتيح للمالك إدارة المعرفة ومتابعة الطلبات من تيليجرام نفسه — دون أي أدوات تقنية.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846</Words>
  <Application>Microsoft Office PowerPoint</Application>
  <PresentationFormat>عرض على الشاشة (16:9)</PresentationFormat>
  <Paragraphs>162</Paragraphs>
  <Slides>7</Slides>
  <Notes>7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Assistant Bot</dc:title>
  <dc:subject>PptxGenJS Presentation</dc:subject>
  <dc:creator>PptxGenJS</dc:creator>
  <cp:lastModifiedBy>Mohammed khudair</cp:lastModifiedBy>
  <cp:revision>3</cp:revision>
  <dcterms:created xsi:type="dcterms:W3CDTF">2026-10-10T15:20:00Z</dcterms:created>
  <dcterms:modified xsi:type="dcterms:W3CDTF">2026-10-11T06:26:47Z</dcterms:modified>
</cp:coreProperties>
</file>